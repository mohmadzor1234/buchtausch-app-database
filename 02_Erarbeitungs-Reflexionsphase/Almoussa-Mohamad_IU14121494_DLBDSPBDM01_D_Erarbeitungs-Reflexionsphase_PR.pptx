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5" r:id="rId21"/>
    <p:sldId id="274" r:id="rId22"/>
    <p:sldId id="277" r:id="rId2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0" y="2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C4945-5EE9-472A-0B84-FF8F4CD13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6312D9-6A8A-1C81-7EAD-C2282F25E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22548A-8A71-B951-2E93-1BC73AEE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2E6871-02B6-E01E-C43E-2EFEB764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3B8DEA-CC18-933A-892D-18A5459E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337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3A855-A865-0220-311B-175076BC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BE6998-966E-8C59-A377-ED4B2028B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AF44E6-11E9-163C-D852-791EA8CE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631CFB-6240-C26E-3F26-FA7BA4BD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5275FA-F72E-1E22-6E9B-B43E390F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128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BD9DA-E941-FD66-E968-F6F60DFAF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360C06-6D20-A8F8-E097-FBC25F96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2D5485-4F37-78C1-1930-9345090C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2B44A7-2FA3-667E-3919-EDFFD4FE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E772E-AD82-D768-846E-4FCE8F9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799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6B3BBC-7C4D-05A8-7B61-5D5E9098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FFF632-5A7C-6B96-9CE4-D86CF5730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A42040-37E9-4F7B-8522-6B7F63DE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1BB004-58A4-19BD-2A56-CFC3739A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D2D57-F35C-0D90-4E2F-215494EB6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F7521C-23C1-3174-85B6-5F1DA7F6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093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31514-003D-2E30-860B-7BC735EF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00E25E-D054-C174-4B14-C96111B94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713B40-5F38-341D-419E-560D6136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AD589B-E0FA-1F31-A1FA-6C30A2CDF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147AF0-45CF-8CFE-11A1-B9F7B4178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B833E4-73FF-37AC-D56A-F717D937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0F0182-C4EF-45AF-D6E4-6233FB38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48A0D3-13DB-BBCF-A295-BF73D40B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733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4E2EB-C286-A96D-D6AD-78EC9F98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A61FD8-F28C-15C6-8DE6-33E9E3B1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E86C21-CD49-42E4-3249-22AC81C0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A8A574-EFB5-B05B-51C6-E6924B42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457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79DCFC6-3948-2628-6BB4-12AA59F5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48EAA9-44B5-9F45-4EAC-84319877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8269B4-4E71-EFD2-EEBE-30BC9664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042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B96DF-3E91-0247-7A70-EA7E040B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C811E-82D3-677B-346F-0DCC43A9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C64E31-B7C0-5115-386E-78AB98FEB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D4BB86-B1A5-367E-610B-9D69FF5C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B91AA2-DD6F-4FB2-7A83-390B1299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C9A55B-4F55-64C4-69A3-F25B1D19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228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CBB88-B5DD-33A0-2BB7-2ABEC970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2BCBED-55D2-E685-6358-8BBCFD824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03C1FD-8D15-986C-02AB-8CE41B221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D7D844-5A0A-88AF-A8FA-4C99CAEE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EC194F-7030-9CE2-0665-83DEF73F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530EA5-84AF-2A70-9E5B-7AD6F2A8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137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EFA072-5774-B2CF-B4B6-4F33184F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2F28E31-DC11-0F9B-8A0A-6030ED1A3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607F22-F560-84EF-77F2-CE25F1FE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5DD87E-A801-91EF-FC0E-8CB59233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B4D9D3-8D5B-B266-3DDE-7624649F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33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2266D0C-0AF9-61DD-4BC0-F25280801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4268FA-2040-B9DE-9551-C9714C5AD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C00DBD-655B-53A9-5A55-F0292DC9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044CF7-9B6A-BBF9-F60B-E770BABF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FBC9E4-F0B5-BD3D-BE6B-905F5A33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916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75A42EB-63D2-3623-0964-0A52DFCE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8643F5-A99B-B41C-08DA-A2C8DB737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AB969-4E5F-54F9-836A-E1C7BDF82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CDEE1-57DD-4117-867F-6E16E7D857F9}" type="datetimeFigureOut">
              <a:rPr lang="en-DE" smtClean="0"/>
              <a:t>15/05/2026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6958BC-B07B-1725-EE57-4007DEE5F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85BB0-4EB6-AA51-376B-21E16F382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797D6-6BCA-4BF0-811D-A3200866D33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1048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2A5FCA-550E-BA0A-F772-2AB3CBD04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Titel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Untertitel 2">
            <a:extLst>
              <a:ext uri="{FF2B5EF4-FFF2-40B4-BE49-F238E27FC236}">
                <a16:creationId xmlns:a16="http://schemas.microsoft.com/office/drawing/2014/main" id="{15A0CF8A-99F0-CA53-FAAA-9150836B2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5261706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Buchtausch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-App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Datenbank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Phase 2 –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Erarbeitungs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-/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Reflexionsphase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Mohamad Almoussa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Matrikelnummer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: IU14121494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Kurs: DLBDSPBDM01_D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83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F5AF5-4A25-74FE-709A-1EDCE312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6C268-0A40-6E76-5D8E-CF912281A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Projektbeschreibung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Untertitel 2">
            <a:extLst>
              <a:ext uri="{FF2B5EF4-FFF2-40B4-BE49-F238E27FC236}">
                <a16:creationId xmlns:a16="http://schemas.microsoft.com/office/drawing/2014/main" id="{6636CE2E-DA5E-CA66-2014-6E72F6310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5288929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Ziel dieses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Projekts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ist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die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Entwicklung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einer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relationalen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Datenbank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für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eine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Buchtausch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-App.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Benutzer:innen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können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Bücher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anbieten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ausleihen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und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verwalten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Die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Datenbank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speichert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Informationen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über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Bücher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Benutzer:innen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Ausleihen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Bewertungen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Nachrichten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und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Standorte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Die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Implementierung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wurde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mit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MariaDB und SQL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umgesetzt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3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62349-DB26-2CB5-28A2-9ECA6916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BF8FFC-87E6-56C9-6ECA-D10CE82A7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Verwendete Technologien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Untertitel 2">
            <a:extLst>
              <a:ext uri="{FF2B5EF4-FFF2-40B4-BE49-F238E27FC236}">
                <a16:creationId xmlns:a16="http://schemas.microsoft.com/office/drawing/2014/main" id="{D8E1C414-A3DA-BE6E-976B-72231570E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MariaDB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SQL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XAMPP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Visual Studio Code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dbdiagram.io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69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491F1-A8C3-F840-A16B-8A9B6F9E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0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74D051-1DE0-1011-70A8-70D1897E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5600">
                <a:solidFill>
                  <a:srgbClr val="FFFFFF"/>
                </a:solidFill>
              </a:rPr>
              <a:t>Entity-Relationship-Modell (ERM)</a:t>
            </a:r>
            <a:endParaRPr lang="en-DE" sz="56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E11578-7253-A2FE-C0BD-27552BFFE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rgbClr val="FFFFFF"/>
                </a:solidFill>
              </a:rPr>
              <a:t>Das ER-Modell zeigt die wichtigsten Entitäten und Beziehungen der Buchtausch-App.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rgbClr val="FFFFFF"/>
                </a:solidFill>
              </a:rPr>
              <a:t>Die Datenbank enthält Tabellen für </a:t>
            </a:r>
            <a:r>
              <a:rPr lang="de-DE" sz="1000" dirty="0" err="1">
                <a:solidFill>
                  <a:srgbClr val="FFFFFF"/>
                </a:solidFill>
              </a:rPr>
              <a:t>Benutzer:innen</a:t>
            </a:r>
            <a:r>
              <a:rPr lang="de-DE" sz="1000" dirty="0">
                <a:solidFill>
                  <a:srgbClr val="FFFFFF"/>
                </a:solidFill>
              </a:rPr>
              <a:t>, Bücher, Ausleihen, Bewertungen, Nachrichten, Kategorien und Standorte.</a:t>
            </a:r>
            <a:endParaRPr lang="en-DE" sz="10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16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9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D9237C11-B961-2963-50F5-480A67385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65394"/>
              </p:ext>
            </p:extLst>
          </p:nvPr>
        </p:nvGraphicFramePr>
        <p:xfrm>
          <a:off x="8022701" y="3539023"/>
          <a:ext cx="1592580" cy="838200"/>
        </p:xfrm>
        <a:graphic>
          <a:graphicData uri="http://schemas.openxmlformats.org/drawingml/2006/table">
            <a:tbl>
              <a:tblPr/>
              <a:tblGrid>
                <a:gridCol w="1592580">
                  <a:extLst>
                    <a:ext uri="{9D8B030D-6E8A-4147-A177-3AD203B41FA5}">
                      <a16:colId xmlns:a16="http://schemas.microsoft.com/office/drawing/2014/main" val="100250065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561160"/>
                  </a:ext>
                </a:extLst>
              </a:tr>
            </a:tbl>
          </a:graphicData>
        </a:graphic>
      </p:graphicFrame>
      <p:pic>
        <p:nvPicPr>
          <p:cNvPr id="12" name="Grafik 11">
            <a:extLst>
              <a:ext uri="{FF2B5EF4-FFF2-40B4-BE49-F238E27FC236}">
                <a16:creationId xmlns:a16="http://schemas.microsoft.com/office/drawing/2014/main" id="{9EDC7F28-7A27-FFDD-C8D9-2FE04A7DC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182" y="2380594"/>
            <a:ext cx="6014888" cy="40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F3265-6947-A949-21B2-7801BE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129826-2EBE-3567-D128-5DA7D717E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Benutzer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78A5D5-CABC-9A51-3379-71DE06247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406462"/>
            <a:ext cx="4412417" cy="2199290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Informationen über die </a:t>
            </a:r>
            <a:r>
              <a:rPr lang="de-DE" sz="1400" dirty="0" err="1">
                <a:solidFill>
                  <a:srgbClr val="FFFFFF"/>
                </a:solidFill>
              </a:rPr>
              <a:t>Benutzer:innen</a:t>
            </a:r>
            <a:r>
              <a:rPr lang="de-DE" sz="1400" dirty="0">
                <a:solidFill>
                  <a:srgbClr val="FFFFFF"/>
                </a:solidFill>
              </a:rPr>
              <a:t> der Buchtausch-App, einschließlich Name, Adresse, E-Mail, Telefonnummer und Rolle.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Durch den CHECK-Constraint wird sichergestellt, dass nur die Rollen „Anbieter“, „Entleiher“ oder „Admin“ gespeichert werden können.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7BE8FBF6-C96D-E662-38B5-CD4B15D5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688" y="4607848"/>
            <a:ext cx="5164268" cy="177390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4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5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478C4724-1CA6-B1F7-11C2-196526FEB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88" y="3607121"/>
            <a:ext cx="5315836" cy="73800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488C673-F3F5-C4C4-FD16-B14DD35DA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688" y="1691642"/>
            <a:ext cx="4153113" cy="16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5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0C3C8-272E-64E3-A694-3ABDD4D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149E9-9A78-74F2-711B-FAA94D0E0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Buch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EBE356-0B92-7483-72D7-C0828146F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343401"/>
            <a:ext cx="4412417" cy="230176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Informationen über die Bücher der Buchtausch-App, einschließlich Titel, </a:t>
            </a:r>
            <a:r>
              <a:rPr lang="de-DE" sz="1400" dirty="0" err="1">
                <a:solidFill>
                  <a:srgbClr val="FFFFFF"/>
                </a:solidFill>
              </a:rPr>
              <a:t>Autor:in</a:t>
            </a:r>
            <a:r>
              <a:rPr lang="de-DE" sz="1400" dirty="0">
                <a:solidFill>
                  <a:srgbClr val="FFFFFF"/>
                </a:solidFill>
              </a:rPr>
              <a:t>, Genre, Verlag, Veröffentlichungsjahr, Sprache und Zustand des Buches.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Zusätzliche CHECK-Constraints stellen sicher, dass nur gültige Werte für den Zustand gespeichert werden und das Veröffentlichungsjahr größer als 0 ist.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76EC3175-1123-49D1-3AC4-14114741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4" y="4725531"/>
            <a:ext cx="5569863" cy="173081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11BF9EA6-3B02-93C3-F17F-FF65D3B62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4" y="3860579"/>
            <a:ext cx="5546891" cy="71733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0B9A027-DC33-5745-3BC3-D43DCA9CC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24" y="1589367"/>
            <a:ext cx="4216617" cy="212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0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009C3-B023-ACFF-0D33-B915BDA4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AF3974-07DE-F3DF-17B5-58E838A43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6200">
                <a:solidFill>
                  <a:srgbClr val="FFFFFF"/>
                </a:solidFill>
              </a:rPr>
              <a:t>Tabelle Verfügbarkeit</a:t>
            </a:r>
            <a:endParaRPr lang="en-DE" sz="6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5DFAA5-7912-9468-B5A1-36A97CE42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264573"/>
            <a:ext cx="4412417" cy="2117178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Informationen über die Verfügbarkeit der Bücher, einschließlich Ausleihzeitraum, Abholort und der Möglichkeit des Postversands.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Durch den Foreign Key wird sichergestellt, dass jede Verfügbarkeit einem existierenden Buch zugeordnet ist. Zusätzlich prüft ein CHECK-Constraint, dass das Enddatum nicht vor dem Startdatum liegt.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E502B6CD-CC0A-ACE5-5522-78883E40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6" y="4634350"/>
            <a:ext cx="4907715" cy="197327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E851C6C8-CA69-7056-04F9-5F31F4FFF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2" y="3709846"/>
            <a:ext cx="4907719" cy="6544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DE73BD4-1550-3082-7BE9-1C87C4CC8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779" y="1589368"/>
            <a:ext cx="4045158" cy="185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2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87AA5-3713-B29B-DC82-D688306B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B87100-9C3D-DE19-CE96-C10203EE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Ausleihe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96431E-36EC-C39B-069C-6F19CC68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296103"/>
            <a:ext cx="4412417" cy="2286000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Informationen über Ausleihvorgänge der Bücher, einschließlich </a:t>
            </a:r>
            <a:r>
              <a:rPr lang="de-DE" sz="1400" dirty="0" err="1">
                <a:solidFill>
                  <a:srgbClr val="FFFFFF"/>
                </a:solidFill>
              </a:rPr>
              <a:t>Entleiher:in</a:t>
            </a:r>
            <a:r>
              <a:rPr lang="de-DE" sz="1400" dirty="0">
                <a:solidFill>
                  <a:srgbClr val="FFFFFF"/>
                </a:solidFill>
              </a:rPr>
              <a:t>, Ausleihzeitraum und aktuellem Status der Ausleihe.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 Tabelle verwendet mehrere Foreign Keys, um Beziehungen zu Büchern, </a:t>
            </a:r>
            <a:r>
              <a:rPr lang="de-DE" sz="1400" dirty="0" err="1">
                <a:solidFill>
                  <a:srgbClr val="FFFFFF"/>
                </a:solidFill>
              </a:rPr>
              <a:t>Benutzer:innen</a:t>
            </a:r>
            <a:r>
              <a:rPr lang="de-DE" sz="1400" dirty="0">
                <a:solidFill>
                  <a:srgbClr val="FFFFFF"/>
                </a:solidFill>
              </a:rPr>
              <a:t> und Verfügbarkeiten herzustellen. Zusätzlich sorgen CHECK-Constraints dafür, dass nur gültige Statuswerte gespeichert werden und das Rückgabedatum nicht vor dem Ausleihdatum liegt.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A6235C90-3CB8-14BB-5C1D-37A6A0D3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6" y="4899415"/>
            <a:ext cx="5569863" cy="189859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8F002E9-463E-FDAB-7D4B-AB83AA648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6" y="4233724"/>
            <a:ext cx="5569864" cy="55698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670E02A-8228-0A17-9C2A-0C8B0B6D6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26" y="1589368"/>
            <a:ext cx="5569863" cy="255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2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CB8AE-8FD5-EC70-C287-431F1E3F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5F2DB6-48FA-A431-0B2C-B56AFA766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Tabelle Bewertung</a:t>
            </a:r>
            <a:endParaRPr lang="en-DE" sz="74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E227F9-D6D9-DFB3-8C24-CF467B21B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972911"/>
            <a:ext cx="4412417" cy="2408840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Bewertungen und Kommentare zu ausgeliehenen Büchern, einschließlich Sternebewertung, Kommentar und Bewertungsdatum.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Durch die Foreign Keys wird sichergestellt, dass jede Bewertung mit einem existierenden Buch, einer Benutzerin bzw. einem Benutzer und einem Ausleihvorgang verknüpft ist. Der CHECK-Constraint stellt außerdem sicher, dass nur Bewertungen zwischen 1 und 5 Sternen gespeichert werden können.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0F98189C-5FCC-949F-83B9-925EB06CF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5027452"/>
            <a:ext cx="5569864" cy="167705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8E81D86C-5F11-EAB2-7BFB-857B420AB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5" y="4321182"/>
            <a:ext cx="5569864" cy="6126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325E414-B335-4772-9710-EE5F7DE9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26" y="1589368"/>
            <a:ext cx="4780008" cy="268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5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FBF33-73B8-E534-D6BE-E478CDC8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74EC49-C4BD-DF10-2066-694CEC3DD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Kategorie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ADA33B2-A636-803D-9DBD-582B5B9FE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64117"/>
            <a:ext cx="4412417" cy="181763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die verschiedenen Kategorien der Bücher, wie zum Beispiel Roman, Fantasy oder Informatik.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Durch den UNIQUE-Constraint wird sichergestellt, dass jede Kategorie nur einmal in der Datenbank vorhanden ist.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09D20DA-05CC-7903-1C24-2B6056F4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307" y="2933053"/>
            <a:ext cx="5569863" cy="128619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685E9E24-9BC0-BF4C-B668-674729A80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306" y="4381252"/>
            <a:ext cx="5569863" cy="23352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4A63C3D-3ECB-865C-E7BA-E59A2C9C1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306" y="1598246"/>
            <a:ext cx="5569864" cy="123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2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8BE16-B68F-61B6-4D05-17E68996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980FAF-D5EB-8EDB-DEB3-4709EA0AD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5000">
                <a:solidFill>
                  <a:srgbClr val="FFFFFF"/>
                </a:solidFill>
              </a:rPr>
              <a:t>Tabelle Buch_Kategorie</a:t>
            </a:r>
            <a:endParaRPr lang="en-DE" sz="5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90B0A5-F3A1-6DCE-C64B-C8811B05B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310123"/>
            <a:ext cx="4412417" cy="2071628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stellt die Many-</a:t>
            </a:r>
            <a:r>
              <a:rPr lang="de-DE" sz="1400" dirty="0" err="1">
                <a:solidFill>
                  <a:srgbClr val="FFFFFF"/>
                </a:solidFill>
              </a:rPr>
              <a:t>to</a:t>
            </a:r>
            <a:r>
              <a:rPr lang="de-DE" sz="1400" dirty="0">
                <a:solidFill>
                  <a:srgbClr val="FFFFFF"/>
                </a:solidFill>
              </a:rPr>
              <a:t>-Many-Beziehung zwischen Büchern und Kategorien dar.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Ein Buch kann mehreren Kategorien zugeordnet werden und eine Kategorie kann mehrere Bücher enthalten. Der zusammengesetzte Primärschlüssel verhindert doppelte Zuordnungen.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657FE10A-11DC-BDB9-7618-1F54A35B6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15" y="1738538"/>
            <a:ext cx="3336468" cy="14847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FC8CF736-BDD9-4214-6EC1-0B3F56C58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86" y="4310122"/>
            <a:ext cx="3642762" cy="207162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97371A-A1D1-8961-5D4D-251049B65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15" y="3314143"/>
            <a:ext cx="5569864" cy="90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9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E3827-F6D9-38F4-6543-C5E1C1E4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3D28D4-0680-83DD-A6CA-1D40BC15F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Nachricht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94A423-5CB7-B680-A09B-55FE0A4EC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240925"/>
            <a:ext cx="4412417" cy="2140826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Nachrichten zwischen </a:t>
            </a:r>
            <a:r>
              <a:rPr lang="de-DE" sz="1400" dirty="0" err="1">
                <a:solidFill>
                  <a:srgbClr val="FFFFFF"/>
                </a:solidFill>
              </a:rPr>
              <a:t>Benutzer:innen</a:t>
            </a:r>
            <a:r>
              <a:rPr lang="de-DE" sz="1400" dirty="0">
                <a:solidFill>
                  <a:srgbClr val="FFFFFF"/>
                </a:solidFill>
              </a:rPr>
              <a:t> der Buchtausch-App bezüglich bestimmter Bücher.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 Tabelle enthält Beziehungen zu </a:t>
            </a:r>
            <a:r>
              <a:rPr lang="de-DE" sz="1400" dirty="0" err="1">
                <a:solidFill>
                  <a:srgbClr val="FFFFFF"/>
                </a:solidFill>
              </a:rPr>
              <a:t>Sender:in</a:t>
            </a:r>
            <a:r>
              <a:rPr lang="de-DE" sz="1400" dirty="0">
                <a:solidFill>
                  <a:srgbClr val="FFFFFF"/>
                </a:solidFill>
              </a:rPr>
              <a:t>, </a:t>
            </a:r>
            <a:r>
              <a:rPr lang="de-DE" sz="1400" dirty="0" err="1">
                <a:solidFill>
                  <a:srgbClr val="FFFFFF"/>
                </a:solidFill>
              </a:rPr>
              <a:t>Empfänger:in</a:t>
            </a:r>
            <a:r>
              <a:rPr lang="de-DE" sz="1400" dirty="0">
                <a:solidFill>
                  <a:srgbClr val="FFFFFF"/>
                </a:solidFill>
              </a:rPr>
              <a:t> und Buch. Der CHECK-Constraint stellt sicher, dass eine Person keine Nachricht an sich selbst senden kann.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66F90E6A-F65B-EBF2-FF66-67D2C9D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908" y="4162726"/>
            <a:ext cx="5569863" cy="250608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6737DC1C-DF20-20C9-E5E5-C2D207EB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908" y="1659316"/>
            <a:ext cx="3015195" cy="168297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F4C3B14-49B0-4638-5539-3AA7EABE6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908" y="3411354"/>
            <a:ext cx="5569864" cy="6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1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93B17-3044-E0F4-BDF8-6C526CC5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16F9B2-BCEA-5B81-BF03-E8D49374B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Tabelle Standort</a:t>
            </a:r>
            <a:endParaRPr lang="en-DE" sz="8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F0AAA5-6E59-92FC-2B5D-58B993AB8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178362"/>
            <a:ext cx="4412417" cy="220338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speichert Standortinformationen für die geografische Suche nach Büchern.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Gespeichert werden Postleitzahl, Stadt sowie Breitengrad und Längengrad. Die CHECK-Constraints stellen sicher, dass nur gültige geografische Koordinaten gespeichert werden können.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3777C8AB-4131-CC8D-3DA4-91F6601E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15" y="1738538"/>
            <a:ext cx="3109379" cy="14847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E168093B-9756-5AFE-CC74-0B5FA4B6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15" y="4256204"/>
            <a:ext cx="3606402" cy="226817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921E623-8ABE-F100-5F25-C74F9F2BE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15" y="3301108"/>
            <a:ext cx="5569864" cy="87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98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59DCA-B61C-C48B-8676-FE5535CA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2C7815-A9E9-15E4-19C4-F0C0B5EAB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7"/>
            <a:ext cx="4412419" cy="1625020"/>
          </a:xfrm>
        </p:spPr>
        <p:txBody>
          <a:bodyPr anchor="t">
            <a:normAutofit/>
          </a:bodyPr>
          <a:lstStyle/>
          <a:p>
            <a:pPr algn="r"/>
            <a:r>
              <a:rPr lang="en-US" sz="5000" dirty="0" err="1">
                <a:solidFill>
                  <a:srgbClr val="FFFFFF"/>
                </a:solidFill>
              </a:rPr>
              <a:t>Tabelle</a:t>
            </a:r>
            <a:r>
              <a:rPr lang="en-US" sz="5000" dirty="0">
                <a:solidFill>
                  <a:srgbClr val="FFFFFF"/>
                </a:solidFill>
              </a:rPr>
              <a:t> </a:t>
            </a:r>
            <a:r>
              <a:rPr lang="en-US" sz="5000" dirty="0" err="1">
                <a:solidFill>
                  <a:srgbClr val="FFFFFF"/>
                </a:solidFill>
              </a:rPr>
              <a:t>Buch_Standort</a:t>
            </a:r>
            <a:endParaRPr lang="en-DE" sz="50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41916F-F31F-BA8A-A0EE-B4314FF89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712779"/>
            <a:ext cx="4412417" cy="266897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Diese Tabelle stellt die Beziehung zwischen Büchern und Standorten dar.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Dadurch kann ein Buch einem bestimmten Standort zugeordnet werden, um eine geografische Suche innerhalb der Buchtausch-App zu ermöglichen. Der zusammengesetzte Primärschlüssel verhindert doppelte Zuordnungen.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FED7F682-B84B-A804-B33F-B04BE902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15" y="1738538"/>
            <a:ext cx="3374383" cy="14847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823A743F-DBC4-7BB3-9786-5857BF8FC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15" y="4072558"/>
            <a:ext cx="3212262" cy="21627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E1CC5A8-1369-B2DB-2506-AB668D322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915" y="3322915"/>
            <a:ext cx="4804582" cy="64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1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087E1-BF32-D9D7-E287-B7D5B58C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E0EF87-9A04-BA54-9833-FFE20069B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6200">
                <a:solidFill>
                  <a:srgbClr val="FFFFFF"/>
                </a:solidFill>
              </a:rPr>
              <a:t>Testfall 1 – Bücher mit Verfügbarkeit</a:t>
            </a:r>
            <a:endParaRPr lang="en-DE" sz="6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32399F-D266-B479-3DB5-139781113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FFFFFF"/>
                </a:solidFill>
              </a:rPr>
              <a:t>Diese Abfrage zeigt alle Bücher zusammen mit ihren Verfügbarkeitsinformationen, einschließlich Zeitraum, Ort und Postversand.</a:t>
            </a:r>
            <a:endParaRPr lang="en-DE" sz="1500" dirty="0">
              <a:solidFill>
                <a:srgbClr val="FFFFFF"/>
              </a:solidFill>
            </a:endParaRPr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98D4724B-D3D0-C02D-6BE3-22A1849AB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889018"/>
            <a:ext cx="5664133" cy="2138209"/>
          </a:xfrm>
          <a:prstGeom prst="rect">
            <a:avLst/>
          </a:prstGeom>
        </p:spPr>
      </p:pic>
      <p:grpSp>
        <p:nvGrpSpPr>
          <p:cNvPr id="22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02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62D83-8A36-CC0C-99E5-878025EB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6D5412-EFED-2094-3E6E-D63213597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6200">
                <a:solidFill>
                  <a:srgbClr val="FFFFFF"/>
                </a:solidFill>
              </a:rPr>
              <a:t>Testfall 2 – Ausleihen mit Benutzer und Buch</a:t>
            </a:r>
            <a:endParaRPr lang="en-DE" sz="6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19FF96-F61E-F53F-184B-97C4AE2B9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FFFFFF"/>
                </a:solidFill>
              </a:rPr>
              <a:t>Diese Abfrage zeigt alle Ausleihvorgänge zusammen mit den entsprechenden </a:t>
            </a:r>
            <a:r>
              <a:rPr lang="de-DE" sz="1500" dirty="0" err="1">
                <a:solidFill>
                  <a:srgbClr val="FFFFFF"/>
                </a:solidFill>
              </a:rPr>
              <a:t>Benutzer:innen</a:t>
            </a:r>
            <a:r>
              <a:rPr lang="de-DE" sz="1500" dirty="0">
                <a:solidFill>
                  <a:srgbClr val="FFFFFF"/>
                </a:solidFill>
              </a:rPr>
              <a:t> und Büchern.</a:t>
            </a:r>
            <a:endParaRPr lang="en-DE" sz="15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9395E28D-19E1-F670-C9E3-1D777D719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733255"/>
            <a:ext cx="5664133" cy="244973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908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5289C-BAC7-66A4-5043-1609CFBF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E1C25F-9773-2D58-66BE-72C68C7A8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6200">
                <a:solidFill>
                  <a:srgbClr val="FFFFFF"/>
                </a:solidFill>
              </a:rPr>
              <a:t>Testfall 3 – Bewertungen mit Benutzer und Buch</a:t>
            </a:r>
            <a:endParaRPr lang="en-DE" sz="6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275E09-1979-0352-4FBC-65C52D6F4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FFFFFF"/>
                </a:solidFill>
              </a:rPr>
              <a:t>Diese Abfrage zeigt Bewertungen und Kommentare zu Büchern zusammen mit den entsprechenden </a:t>
            </a:r>
            <a:r>
              <a:rPr lang="de-DE" sz="1800" dirty="0" err="1">
                <a:solidFill>
                  <a:srgbClr val="FFFFFF"/>
                </a:solidFill>
              </a:rPr>
              <a:t>Benutzer:innen</a:t>
            </a:r>
            <a:r>
              <a:rPr lang="de-DE" sz="1800" dirty="0">
                <a:solidFill>
                  <a:srgbClr val="FFFFFF"/>
                </a:solidFill>
              </a:rPr>
              <a:t>.</a:t>
            </a:r>
            <a:endParaRPr lang="en-DE" sz="18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7742E746-98E1-0437-7C44-5616D3B3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924419"/>
            <a:ext cx="5664133" cy="206740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625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A553E-57CD-D097-4F7E-E4BFF22A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F335E-BCBF-BDB9-0822-9E654D118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6200">
                <a:solidFill>
                  <a:srgbClr val="FFFFFF"/>
                </a:solidFill>
              </a:rPr>
              <a:t>Testfall 4 – Bücher nach Standort</a:t>
            </a:r>
            <a:endParaRPr lang="en-DE" sz="6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F5F384-DEE2-F26E-E775-C3CD8943F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FFFFFF"/>
                </a:solidFill>
              </a:rPr>
              <a:t>Diese Abfrage zeigt Bücher zusammen mit den zugehörigen Standortinformationen für die geografische Suche.</a:t>
            </a:r>
            <a:endParaRPr lang="en-DE" sz="15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99A27035-2EF4-0AE8-E9E7-456B724A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506689"/>
            <a:ext cx="5664133" cy="29028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6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92BB8-90D5-DF69-1BA0-D5FE842C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D52201-DF58-7367-FA81-C5BC3322F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4400">
                <a:solidFill>
                  <a:srgbClr val="FFFFFF"/>
                </a:solidFill>
              </a:rPr>
              <a:t>Testfall 11 – Durchschnittliche Bewertung pro Buch</a:t>
            </a:r>
            <a:endParaRPr lang="en-DE" sz="44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89CACB-0CBA-44D6-0478-4990810A8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FFFFFF"/>
                </a:solidFill>
              </a:rPr>
              <a:t>Diese Abfrage berechnet die durchschnittliche Bewertung pro Buch und zeigt zusätzlich die Anzahl der Bewertungen an.</a:t>
            </a:r>
            <a:endParaRPr lang="en-DE" sz="15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34ADBD34-CED6-9AC0-AD15-614CD455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556250"/>
            <a:ext cx="5664133" cy="280374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4387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F1557-B439-4A37-122D-06CB2BC7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F85E02-2D80-8B03-A82B-B9139A669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de-DE" sz="3800">
                <a:solidFill>
                  <a:srgbClr val="FFFFFF"/>
                </a:solidFill>
              </a:rPr>
              <a:t>Testfall 12 – Mehrfachausleihen pro Buch</a:t>
            </a:r>
            <a:endParaRPr lang="en-DE" sz="38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357202-69E4-9B88-8BE3-5676CE211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FFFFFF"/>
                </a:solidFill>
              </a:rPr>
              <a:t>Für diesen Testfall wurde ein zusätzlicher Ausleihvorgang eingefügt, um Mehrfachausleihen realistisch prüfen zu können.</a:t>
            </a:r>
            <a:endParaRPr lang="en-DE" sz="15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CDB3CBBF-C8B0-DE97-ED10-98EC8711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605812"/>
            <a:ext cx="5664133" cy="270462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6211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83844-9B6D-5329-4E28-CC657135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64E6401-ED0E-4C69-B9F2-C94D98C65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091B37-2857-BCF0-ED89-51705B687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Indizes und Optimierung</a:t>
            </a:r>
            <a:endParaRPr lang="en-DE" sz="56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B705C1-800B-112A-25C1-981F27FDE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Zusätzlich wurden Indizes erstellt, um die Leistung häufiger Suchabfragen zu verbessern.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 Indizes optimieren insbesondere die Suche nach Buchtiteln, Genres, Städten, Verfügbarkeiten und Ausleihstatus.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1C88D391-E11D-E3F3-664A-A2F9BDBA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009" y="2500568"/>
            <a:ext cx="4701027" cy="187436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091CF1D-1F61-41E9-95B3-739B2ACB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20768" y="2053732"/>
            <a:ext cx="609182" cy="702815"/>
            <a:chOff x="11220768" y="2053732"/>
            <a:chExt cx="609182" cy="702815"/>
          </a:xfrm>
          <a:solidFill>
            <a:srgbClr val="FFFFFF"/>
          </a:solidFill>
        </p:grpSpPr>
        <p:sp>
          <p:nvSpPr>
            <p:cNvPr id="30" name="Graphic 22">
              <a:extLst>
                <a:ext uri="{FF2B5EF4-FFF2-40B4-BE49-F238E27FC236}">
                  <a16:creationId xmlns:a16="http://schemas.microsoft.com/office/drawing/2014/main" id="{508BEF50-7B1E-49A4-BC19-5F4F1D755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0768" y="2053732"/>
              <a:ext cx="151536" cy="151536"/>
            </a:xfrm>
            <a:custGeom>
              <a:avLst/>
              <a:gdLst>
                <a:gd name="connsiteX0" fmla="*/ 141251 w 151536"/>
                <a:gd name="connsiteY0" fmla="*/ 65483 h 151536"/>
                <a:gd name="connsiteX1" fmla="*/ 86053 w 151536"/>
                <a:gd name="connsiteY1" fmla="*/ 65483 h 151536"/>
                <a:gd name="connsiteX2" fmla="*/ 86053 w 151536"/>
                <a:gd name="connsiteY2" fmla="*/ 10285 h 151536"/>
                <a:gd name="connsiteX3" fmla="*/ 75768 w 151536"/>
                <a:gd name="connsiteY3" fmla="*/ 0 h 151536"/>
                <a:gd name="connsiteX4" fmla="*/ 65483 w 151536"/>
                <a:gd name="connsiteY4" fmla="*/ 10285 h 151536"/>
                <a:gd name="connsiteX5" fmla="*/ 65483 w 151536"/>
                <a:gd name="connsiteY5" fmla="*/ 65483 h 151536"/>
                <a:gd name="connsiteX6" fmla="*/ 10285 w 151536"/>
                <a:gd name="connsiteY6" fmla="*/ 65483 h 151536"/>
                <a:gd name="connsiteX7" fmla="*/ 0 w 151536"/>
                <a:gd name="connsiteY7" fmla="*/ 75768 h 151536"/>
                <a:gd name="connsiteX8" fmla="*/ 10285 w 151536"/>
                <a:gd name="connsiteY8" fmla="*/ 86053 h 151536"/>
                <a:gd name="connsiteX9" fmla="*/ 65483 w 151536"/>
                <a:gd name="connsiteY9" fmla="*/ 86053 h 151536"/>
                <a:gd name="connsiteX10" fmla="*/ 65483 w 151536"/>
                <a:gd name="connsiteY10" fmla="*/ 141251 h 151536"/>
                <a:gd name="connsiteX11" fmla="*/ 75768 w 151536"/>
                <a:gd name="connsiteY11" fmla="*/ 151536 h 151536"/>
                <a:gd name="connsiteX12" fmla="*/ 86053 w 151536"/>
                <a:gd name="connsiteY12" fmla="*/ 141251 h 151536"/>
                <a:gd name="connsiteX13" fmla="*/ 86053 w 151536"/>
                <a:gd name="connsiteY13" fmla="*/ 86053 h 151536"/>
                <a:gd name="connsiteX14" fmla="*/ 141251 w 151536"/>
                <a:gd name="connsiteY14" fmla="*/ 86053 h 151536"/>
                <a:gd name="connsiteX15" fmla="*/ 151536 w 151536"/>
                <a:gd name="connsiteY15" fmla="*/ 75768 h 151536"/>
                <a:gd name="connsiteX16" fmla="*/ 141251 w 151536"/>
                <a:gd name="connsiteY16" fmla="*/ 65483 h 15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536" h="151536">
                  <a:moveTo>
                    <a:pt x="141251" y="65483"/>
                  </a:moveTo>
                  <a:lnTo>
                    <a:pt x="86053" y="65483"/>
                  </a:lnTo>
                  <a:lnTo>
                    <a:pt x="86053" y="10285"/>
                  </a:lnTo>
                  <a:cubicBezTo>
                    <a:pt x="86053" y="4605"/>
                    <a:pt x="81448" y="0"/>
                    <a:pt x="75768" y="0"/>
                  </a:cubicBezTo>
                  <a:cubicBezTo>
                    <a:pt x="70088" y="0"/>
                    <a:pt x="65483" y="4605"/>
                    <a:pt x="65483" y="10285"/>
                  </a:cubicBezTo>
                  <a:lnTo>
                    <a:pt x="65483" y="65483"/>
                  </a:lnTo>
                  <a:lnTo>
                    <a:pt x="10285" y="65483"/>
                  </a:lnTo>
                  <a:cubicBezTo>
                    <a:pt x="4605" y="65483"/>
                    <a:pt x="0" y="70088"/>
                    <a:pt x="0" y="75768"/>
                  </a:cubicBezTo>
                  <a:cubicBezTo>
                    <a:pt x="0" y="81448"/>
                    <a:pt x="4605" y="86053"/>
                    <a:pt x="10285" y="86053"/>
                  </a:cubicBezTo>
                  <a:lnTo>
                    <a:pt x="65483" y="86053"/>
                  </a:lnTo>
                  <a:lnTo>
                    <a:pt x="65483" y="141251"/>
                  </a:lnTo>
                  <a:cubicBezTo>
                    <a:pt x="65483" y="146931"/>
                    <a:pt x="70088" y="151536"/>
                    <a:pt x="75768" y="151536"/>
                  </a:cubicBezTo>
                  <a:cubicBezTo>
                    <a:pt x="81448" y="151536"/>
                    <a:pt x="86053" y="146931"/>
                    <a:pt x="86053" y="141251"/>
                  </a:cubicBezTo>
                  <a:lnTo>
                    <a:pt x="86053" y="86053"/>
                  </a:lnTo>
                  <a:lnTo>
                    <a:pt x="141251" y="86053"/>
                  </a:lnTo>
                  <a:cubicBezTo>
                    <a:pt x="146931" y="86053"/>
                    <a:pt x="151536" y="81448"/>
                    <a:pt x="151536" y="75768"/>
                  </a:cubicBezTo>
                  <a:cubicBezTo>
                    <a:pt x="151536" y="70088"/>
                    <a:pt x="146931" y="65483"/>
                    <a:pt x="141251" y="65483"/>
                  </a:cubicBezTo>
                  <a:close/>
                </a:path>
              </a:pathLst>
            </a:custGeom>
            <a:grpFill/>
            <a:ln w="6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1" name="Graphic 23">
              <a:extLst>
                <a:ext uri="{FF2B5EF4-FFF2-40B4-BE49-F238E27FC236}">
                  <a16:creationId xmlns:a16="http://schemas.microsoft.com/office/drawing/2014/main" id="{3FBAD350-5664-4811-A208-657FB882D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325" y="2647922"/>
              <a:ext cx="108625" cy="108625"/>
            </a:xfrm>
            <a:custGeom>
              <a:avLst/>
              <a:gdLst>
                <a:gd name="connsiteX0" fmla="*/ 54313 w 108625"/>
                <a:gd name="connsiteY0" fmla="*/ 16053 h 108625"/>
                <a:gd name="connsiteX1" fmla="*/ 92572 w 108625"/>
                <a:gd name="connsiteY1" fmla="*/ 54313 h 108625"/>
                <a:gd name="connsiteX2" fmla="*/ 54313 w 108625"/>
                <a:gd name="connsiteY2" fmla="*/ 92572 h 108625"/>
                <a:gd name="connsiteX3" fmla="*/ 16053 w 108625"/>
                <a:gd name="connsiteY3" fmla="*/ 54313 h 108625"/>
                <a:gd name="connsiteX4" fmla="*/ 54313 w 108625"/>
                <a:gd name="connsiteY4" fmla="*/ 16053 h 108625"/>
                <a:gd name="connsiteX5" fmla="*/ 54313 w 108625"/>
                <a:gd name="connsiteY5" fmla="*/ 0 h 108625"/>
                <a:gd name="connsiteX6" fmla="*/ 0 w 108625"/>
                <a:gd name="connsiteY6" fmla="*/ 54313 h 108625"/>
                <a:gd name="connsiteX7" fmla="*/ 54313 w 108625"/>
                <a:gd name="connsiteY7" fmla="*/ 108625 h 108625"/>
                <a:gd name="connsiteX8" fmla="*/ 108625 w 108625"/>
                <a:gd name="connsiteY8" fmla="*/ 54313 h 108625"/>
                <a:gd name="connsiteX9" fmla="*/ 54313 w 108625"/>
                <a:gd name="connsiteY9" fmla="*/ 0 h 10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625" h="108625">
                  <a:moveTo>
                    <a:pt x="54313" y="16053"/>
                  </a:moveTo>
                  <a:cubicBezTo>
                    <a:pt x="75442" y="16053"/>
                    <a:pt x="92572" y="33182"/>
                    <a:pt x="92572" y="54313"/>
                  </a:cubicBezTo>
                  <a:cubicBezTo>
                    <a:pt x="92572" y="75442"/>
                    <a:pt x="75442" y="92572"/>
                    <a:pt x="54313" y="92572"/>
                  </a:cubicBezTo>
                  <a:cubicBezTo>
                    <a:pt x="33182" y="92572"/>
                    <a:pt x="16053" y="75442"/>
                    <a:pt x="16053" y="54313"/>
                  </a:cubicBezTo>
                  <a:cubicBezTo>
                    <a:pt x="16074" y="33191"/>
                    <a:pt x="33191" y="16074"/>
                    <a:pt x="54313" y="16053"/>
                  </a:cubicBezTo>
                  <a:moveTo>
                    <a:pt x="54313" y="0"/>
                  </a:moveTo>
                  <a:cubicBezTo>
                    <a:pt x="24317" y="0"/>
                    <a:pt x="0" y="24317"/>
                    <a:pt x="0" y="54313"/>
                  </a:cubicBezTo>
                  <a:cubicBezTo>
                    <a:pt x="0" y="84309"/>
                    <a:pt x="24317" y="108625"/>
                    <a:pt x="54313" y="108625"/>
                  </a:cubicBezTo>
                  <a:cubicBezTo>
                    <a:pt x="84309" y="108625"/>
                    <a:pt x="108625" y="84309"/>
                    <a:pt x="108625" y="54313"/>
                  </a:cubicBezTo>
                  <a:cubicBezTo>
                    <a:pt x="108625" y="24317"/>
                    <a:pt x="84309" y="0"/>
                    <a:pt x="54313" y="0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3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7861" y="631310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329A0A-5AE1-526D-3F39-FFD6F89A3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009" y="4534022"/>
            <a:ext cx="4701026" cy="81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84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93E4C-519F-755E-0109-1CAC5BE0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3E651E-FF2B-D2DC-01FF-6EA95085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5000">
                <a:solidFill>
                  <a:srgbClr val="FFFFFF"/>
                </a:solidFill>
              </a:rPr>
              <a:t>Reflexion und Verbesserungen</a:t>
            </a:r>
            <a:endParaRPr lang="en-DE" sz="50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DE7A26-C256-47E2-B487-50B143587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Im Rahmen dieses Projekts wurde eine relationale Datenbank für eine Buchtausch-App erfolgreich entwickelt und implementiert.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Die Datenbank enthält mehrere miteinander verbundene Tabellen für </a:t>
            </a:r>
            <a:r>
              <a:rPr lang="de-DE" sz="1400" dirty="0" err="1">
                <a:solidFill>
                  <a:srgbClr val="FFFFFF"/>
                </a:solidFill>
              </a:rPr>
              <a:t>Benutzer:innen</a:t>
            </a:r>
            <a:r>
              <a:rPr lang="de-DE" sz="1400" dirty="0">
                <a:solidFill>
                  <a:srgbClr val="FFFFFF"/>
                </a:solidFill>
              </a:rPr>
              <a:t>, Bücher, Ausleihen, Bewertungen, Nachrichten, Kategorien und Standorte. Durch Foreign Keys, CHECK-Constraints und Indizes wurde die Datenintegrität sowie die Effizienz der Datenbank verbessert.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Zusätzlich wurden verschiedene Testfälle durchgeführt, um reale Nutzungsszenarien zu simulieren und die Funktionalität der Datenbank zu überprüfen.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In Zukunft könnte die Datenbank um weitere Funktionen erweitert werden, zum Beispiel: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 Reservierungssysteme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 automatische Benachrichtigungen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 erweiterte Standortsuche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 Benutzerrechte und Sicherheit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FFFFFF"/>
                </a:solidFill>
              </a:rPr>
              <a:t> Integration in eine Web- oder Mobile-Anwendung</a:t>
            </a:r>
            <a:endParaRPr lang="en-DE" sz="1400" dirty="0">
              <a:solidFill>
                <a:srgbClr val="FFFFFF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38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Breitbild</PresentationFormat>
  <Paragraphs>74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</vt:lpstr>
      <vt:lpstr>Titel</vt:lpstr>
      <vt:lpstr>Projektbeschreibung</vt:lpstr>
      <vt:lpstr>Verwendete Technologien</vt:lpstr>
      <vt:lpstr>Entity-Relationship-Modell (ERM)</vt:lpstr>
      <vt:lpstr>Tabelle Benutzer</vt:lpstr>
      <vt:lpstr>Tabelle Buch</vt:lpstr>
      <vt:lpstr>Tabelle Verfügbarkeit</vt:lpstr>
      <vt:lpstr>Tabelle Ausleihe</vt:lpstr>
      <vt:lpstr>Tabelle Bewertung</vt:lpstr>
      <vt:lpstr>Tabelle Kategorie</vt:lpstr>
      <vt:lpstr>Tabelle Buch_Kategorie</vt:lpstr>
      <vt:lpstr>Tabelle Nachricht</vt:lpstr>
      <vt:lpstr>Tabelle Standort</vt:lpstr>
      <vt:lpstr>Tabelle Buch_Standort</vt:lpstr>
      <vt:lpstr>Testfall 1 – Bücher mit Verfügbarkeit</vt:lpstr>
      <vt:lpstr>Testfall 2 – Ausleihen mit Benutzer und Buch</vt:lpstr>
      <vt:lpstr>Testfall 3 – Bewertungen mit Benutzer und Buch</vt:lpstr>
      <vt:lpstr>Testfall 4 – Bücher nach Standort</vt:lpstr>
      <vt:lpstr>Testfall 11 – Durchschnittliche Bewertung pro Buch</vt:lpstr>
      <vt:lpstr>Testfall 12 – Mehrfachausleihen pro Buch</vt:lpstr>
      <vt:lpstr>Indizes und Optimierung</vt:lpstr>
      <vt:lpstr>Reflexion und Verbesserungen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Almoussa</dc:creator>
  <cp:lastModifiedBy>Mohamad Almoussa</cp:lastModifiedBy>
  <cp:revision>3</cp:revision>
  <dcterms:created xsi:type="dcterms:W3CDTF">2026-05-15T20:11:53Z</dcterms:created>
  <dcterms:modified xsi:type="dcterms:W3CDTF">2026-05-16T13:50:42Z</dcterms:modified>
</cp:coreProperties>
</file>