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64" y="216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AE0745-85CB-0CBA-22A7-39D0D31E3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E08E392-B24E-70C9-56F2-C138BF5B9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AE4148-471B-E3C7-6C00-8D736A42F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0F0A-3E12-45F3-8A2D-18162466CA13}" type="datetimeFigureOut">
              <a:rPr lang="en-DE" smtClean="0"/>
              <a:t>06/05/2026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B47A4E-3FB3-DC4A-A34E-BBA72265F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371F90-E50C-4483-12F0-FA387631C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AA8B-FC51-4DD6-B183-753EE36D637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80284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D1D3DC-CC21-DFD7-AF3E-7F35D3C2F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CBAED5-46E4-38DF-1198-5570F4A3F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2D7EF6-873C-ECFF-434C-68A01F1C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0F0A-3E12-45F3-8A2D-18162466CA13}" type="datetimeFigureOut">
              <a:rPr lang="en-DE" smtClean="0"/>
              <a:t>06/05/2026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279DCF-4C41-8A75-8A25-00F274BC5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36C3C7-2458-5360-1D8D-151A0CB9E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AA8B-FC51-4DD6-B183-753EE36D637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28822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7BC07D-9550-CE4D-529F-264D4DA50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CEB41C-4B65-FB58-AFED-5A7683E42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0FED71-B60F-BFD4-61AE-03662057B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0F0A-3E12-45F3-8A2D-18162466CA13}" type="datetimeFigureOut">
              <a:rPr lang="en-DE" smtClean="0"/>
              <a:t>06/05/2026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FDDDEB-C593-071C-F4ED-6E71E07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01B43B-3867-8829-1967-A911831F3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AA8B-FC51-4DD6-B183-753EE36D637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43353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978A41-6DE2-26C5-ECFB-46CE343BE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FEEC85-4102-02FF-8C56-F2B3AE1BB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B8D7D3-17E6-F57E-10E8-7321647F7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CC6961A-4C65-E3EC-D9B4-60CFE743F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0F0A-3E12-45F3-8A2D-18162466CA13}" type="datetimeFigureOut">
              <a:rPr lang="en-DE" smtClean="0"/>
              <a:t>06/05/2026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3CC9C1E-10CE-2E53-7FF8-A467337F1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B43DBB-C92F-DB9C-C3B9-E4806B493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AA8B-FC51-4DD6-B183-753EE36D637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33335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2B646C-2D68-4391-2D00-8CE4E99F4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A5A6F2-9D2C-12EB-A237-FDA5FCF9A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8CE61C-724E-A418-435A-40D80564E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853C8E9-8C2A-C48D-F34A-5E8FC4B09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0B1D38D-B24F-AD0B-A336-5E1CB61A2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D50F917-9332-50CD-C738-A0528F1D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0F0A-3E12-45F3-8A2D-18162466CA13}" type="datetimeFigureOut">
              <a:rPr lang="en-DE" smtClean="0"/>
              <a:t>06/05/2026</a:t>
            </a:fld>
            <a:endParaRPr lang="en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C8C82A6-D87F-B025-DC7A-74EC4D258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3DC2F34-04C2-5054-AF93-AF07654B6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AA8B-FC51-4DD6-B183-753EE36D637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27411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0766D-88C8-3C3D-C362-5508728F4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E17BAAE-BB02-F8ED-7B3A-18555A084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0F0A-3E12-45F3-8A2D-18162466CA13}" type="datetimeFigureOut">
              <a:rPr lang="en-DE" smtClean="0"/>
              <a:t>06/05/2026</a:t>
            </a:fld>
            <a:endParaRPr lang="en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F0D977-2B1D-812A-C331-37CD54D89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195F38A-FF68-F50D-BA86-F9A1DFB39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AA8B-FC51-4DD6-B183-753EE36D637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55549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5BF3838-9168-FDAE-4EAC-49418C9B7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0F0A-3E12-45F3-8A2D-18162466CA13}" type="datetimeFigureOut">
              <a:rPr lang="en-DE" smtClean="0"/>
              <a:t>06/05/2026</a:t>
            </a:fld>
            <a:endParaRPr lang="en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FD95BA1-466A-9D08-3431-EEA201AD6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FCA5AE-0AC3-4973-D65E-FC6F9935A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AA8B-FC51-4DD6-B183-753EE36D637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29262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9C6A81-533B-8DEC-B2C1-3602182CF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118373-E4F3-56FF-6497-A6897EA1E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FE00EF2-9D2F-150D-74EF-317D16463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A11352-FA72-00D9-89B0-472210491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0F0A-3E12-45F3-8A2D-18162466CA13}" type="datetimeFigureOut">
              <a:rPr lang="en-DE" smtClean="0"/>
              <a:t>06/05/2026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C44782-F71A-5875-1746-3AE0C53DA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DAD0BA-D927-1DC9-F912-6C68D4C0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AA8B-FC51-4DD6-B183-753EE36D637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23084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28E5EC-13D3-5DD0-1A99-3650DB51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FF666FE-CEF4-DB1D-8A00-02D45EB5B6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D043FC-80F0-62B6-4C40-C41D6C07A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27D7B54-2AEF-83B0-2D3E-CEAB167C2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0F0A-3E12-45F3-8A2D-18162466CA13}" type="datetimeFigureOut">
              <a:rPr lang="en-DE" smtClean="0"/>
              <a:t>06/05/2026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490C93-0ACE-59EC-4441-72FBBB38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8A521C-E557-7600-B5C4-E229AA31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AA8B-FC51-4DD6-B183-753EE36D637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45557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C7F26C-9AB6-F62D-A18D-34D402A6D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6E2EC95-6F43-6988-652E-6A54E01C3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B3D250-C1F8-7C2F-8B4E-77C53C0A7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0F0A-3E12-45F3-8A2D-18162466CA13}" type="datetimeFigureOut">
              <a:rPr lang="en-DE" smtClean="0"/>
              <a:t>06/05/2026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EEC327-3A4E-504C-407B-176EA5A1A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44750B-8752-295F-75AD-49B6EC7DD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AA8B-FC51-4DD6-B183-753EE36D637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68763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153F691-6BA3-2C57-104D-8383B33610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8664D6B-3AFB-3A62-5FE3-7301902B3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D7CDBD-1E7E-5360-F0BA-071B4746C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0F0A-3E12-45F3-8A2D-18162466CA13}" type="datetimeFigureOut">
              <a:rPr lang="en-DE" smtClean="0"/>
              <a:t>06/05/2026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334286-DE26-C9BB-381A-704F8367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50F51B-BC13-FACA-ACA3-59889034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AA8B-FC51-4DD6-B183-753EE36D637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967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78157AC-2762-D0B1-2317-AB37ABE80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8BFE2CF-820C-698C-E3AB-56BBC886A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D275C5-672A-C207-A1BB-32AC3F3CF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E0F0A-3E12-45F3-8A2D-18162466CA13}" type="datetimeFigureOut">
              <a:rPr lang="en-DE" smtClean="0"/>
              <a:t>06/05/2026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0311E1-6754-0FB0-6DBC-0EDE0439B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C502D2-0C8A-D41F-3522-49DC589A5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F7AA8B-FC51-4DD6-B183-753EE36D637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27339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06629E-58DE-B630-B56E-B7EC40E6D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Erarbeitungs-/Reflexionsphase – Buchtausch-App Datenbank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Untertitel 2">
            <a:extLst>
              <a:ext uri="{FF2B5EF4-FFF2-40B4-BE49-F238E27FC236}">
                <a16:creationId xmlns:a16="http://schemas.microsoft.com/office/drawing/2014/main" id="{A508AB09-70A5-28EB-8F25-81613E084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Name: Mohamad Almoussa 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Matrikelnummer: IU14121494 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Kurs: DLBDSPBDM01_D 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Datenbank: buchtausch_app 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DBMS: MariaDB (XAMPP)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292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E8EA47B-DB70-B63A-0441-9B7077843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3800">
                <a:solidFill>
                  <a:srgbClr val="FFFFFF"/>
                </a:solidFill>
              </a:rPr>
              <a:t>Ziel der Implementierung</a:t>
            </a:r>
            <a:br>
              <a:rPr lang="en-US" sz="3800">
                <a:solidFill>
                  <a:srgbClr val="FFFFFF"/>
                </a:solidFill>
              </a:rPr>
            </a:br>
            <a:endParaRPr lang="en-DE" sz="38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9F492F-5EC4-8336-D891-47DCA02DE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In dieser Phase wurde das ER-Modell aus Phase 1 in eine relationale SQL-Datenbank umgesetzt. </a:t>
            </a:r>
          </a:p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Die Datenbank enthält 10 Tabellen mit Primärschlüsseln und Fremdschlüsseln. </a:t>
            </a:r>
          </a:p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Alle Tabellen wurden mit Testdaten gefüllt. </a:t>
            </a:r>
          </a:p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Zusätzlich wurden SQL-Abfragen erstellt, um die Funktionalität zu überprüfen.</a:t>
            </a:r>
            <a:endParaRPr lang="en-DE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2884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25DDD8-20DD-5752-D6DC-0D45E6993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3800">
                <a:solidFill>
                  <a:srgbClr val="FFFFFF"/>
                </a:solidFill>
              </a:rPr>
              <a:t>Tabellenübersicht</a:t>
            </a:r>
            <a:endParaRPr lang="en-DE" sz="38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2D8FA9-914B-E703-692C-8DED37C04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Die Datenbank besteht aus folgenden Tabellen:</a:t>
            </a:r>
          </a:p>
          <a:p>
            <a:endParaRPr lang="de-DE" sz="200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benutzer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buch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verfuegbarkeit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ausleihe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bewertung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kategorie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buch_kategorie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nachricht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standort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buch_standort</a:t>
            </a:r>
            <a:endParaRPr lang="en-DE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675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024DFE0-DF1C-1731-C13C-9A0717E65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n-US" sz="5600"/>
              <a:t>Tabelle: benutzer</a:t>
            </a:r>
            <a:endParaRPr lang="en-DE" sz="56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F2A64F6-0103-55FE-50F7-EED32DCC4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43" y="2547851"/>
            <a:ext cx="5221625" cy="1762298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459078-16FC-A12D-513B-2B8B46A71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Diese Tabelle speichert alle Benutzer der Anwendung.</a:t>
            </a:r>
          </a:p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Ein Benutzer kann Anbieter, Entleiher oder Admin sein.</a:t>
            </a:r>
          </a:p>
          <a:p>
            <a:endParaRPr lang="de-DE" sz="200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Wichtige Attribute: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- benutzer_id (Primärschlüssel)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- name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- email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- rolle</a:t>
            </a:r>
          </a:p>
          <a:p>
            <a:endParaRPr lang="en-DE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981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4426711-6DDA-B3CD-2AA8-5A0B0BC42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n-US" sz="5600"/>
              <a:t>Tabelle: buch</a:t>
            </a:r>
            <a:endParaRPr lang="en-DE" sz="56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EA87862-46DE-BD28-C044-677B91AFF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43" y="2724082"/>
            <a:ext cx="5221625" cy="1409837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1FD122-A245-6356-9E4C-AECED4B87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Diese Tabelle speichert alle Bücher in der Anwendung.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Wichtige Attribute: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buch_id (Primärschlüssel)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titel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autor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genre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zustand</a:t>
            </a:r>
            <a:endParaRPr lang="en-DE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714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DA837A-794D-5EED-3FA0-CB1548376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n-US" sz="5600"/>
              <a:t>Tabelle: verfuegbarkeit</a:t>
            </a:r>
            <a:endParaRPr lang="en-DE" sz="56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11AD38A-A0E3-EB6E-0AA5-D0DF28342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43" y="2423838"/>
            <a:ext cx="5221625" cy="2010324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AB9CEA-9968-31F5-24AA-B1C55F502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Diese Tabelle zeigt, wann ein Buch verfügbar ist.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Wichtige Attribute: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verfuegbarkeit_id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buch_id (Fremdschlüssel)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von_datum, bis_datum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ort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postversand</a:t>
            </a:r>
            <a:endParaRPr lang="en-DE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903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535154-2527-10D0-5F33-836B85C13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68ADC38-BBAA-FF9F-1A83-EC4BA1632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n-US" sz="5600"/>
              <a:t>Tabelle: ausleihe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EAB7F3C-DF50-34A2-F2AE-CDD246B08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43" y="2299825"/>
            <a:ext cx="5221625" cy="2258351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2EFC3C-E338-A1E7-9951-4D2EFC985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Diese Tabelle speichert Ausleihen von Büchern.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Wichtige Attribute: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ausleihe_id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buch_id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entleiher_id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status</a:t>
            </a:r>
            <a:endParaRPr lang="en-DE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992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E17AF-DF29-E3CC-2318-6BB83BEB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D13EA2D-271B-740F-F9A1-AA9225183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n-US" sz="5600"/>
              <a:t>Tabelle: bewertung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EDA3D66-7919-AD36-6044-C3DFBBB7A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43" y="2371621"/>
            <a:ext cx="5221625" cy="2114758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9DCEC6-0AB1-50E0-7BA4-B7F3AD209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Diese Tabelle speichert Bewertungen von Büchern.</a:t>
            </a:r>
          </a:p>
          <a:p>
            <a:endParaRPr lang="de-DE" sz="200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Wichtige Attribute: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bewertung_id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buch_id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benutzer_id</a:t>
            </a:r>
          </a:p>
          <a:p>
            <a:pPr lvl="1"/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 sterne</a:t>
            </a:r>
            <a:endParaRPr lang="en-DE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681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324F9-4F23-A97E-EC98-D64A14A1F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8538EBC2-0B11-4732-8715-799409C4A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6">
            <a:extLst>
              <a:ext uri="{FF2B5EF4-FFF2-40B4-BE49-F238E27FC236}">
                <a16:creationId xmlns:a16="http://schemas.microsoft.com/office/drawing/2014/main" id="{CE3C5560-7A9C-489F-9148-18C5E1D0F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06B5BD-898C-CFB6-C7F5-3121C1837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043" y="590062"/>
            <a:ext cx="5309140" cy="28389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Tabelle: kategorie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BD1028-24EC-2D1D-AC3D-50289C979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8044" y="3739764"/>
            <a:ext cx="4517954" cy="11981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3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Diese Tabelle speichert Kategorien von Büchern.</a:t>
            </a:r>
            <a:br>
              <a:rPr lang="en-US" sz="13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br>
              <a:rPr lang="en-US" sz="13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13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Beispiel:</a:t>
            </a:r>
            <a:br>
              <a:rPr lang="en-US" sz="13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13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- Roman</a:t>
            </a:r>
            <a:br>
              <a:rPr lang="en-US" sz="13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13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- Informatik</a:t>
            </a:r>
            <a:br>
              <a:rPr lang="en-US" sz="13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13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- Fantasy</a:t>
            </a:r>
          </a:p>
        </p:txBody>
      </p:sp>
      <p:cxnSp>
        <p:nvCxnSpPr>
          <p:cNvPr id="38" name="Straight Connector 28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fik 5">
            <a:extLst>
              <a:ext uri="{FF2B5EF4-FFF2-40B4-BE49-F238E27FC236}">
                <a16:creationId xmlns:a16="http://schemas.microsoft.com/office/drawing/2014/main" id="{595B557A-DC6B-3925-ADFC-B8AB76EDB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411" y="3319072"/>
            <a:ext cx="4038624" cy="2039504"/>
          </a:xfrm>
          <a:prstGeom prst="rect">
            <a:avLst/>
          </a:prstGeom>
        </p:spPr>
      </p:pic>
      <p:sp>
        <p:nvSpPr>
          <p:cNvPr id="3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20768" y="229592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9518" y="2756007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8003" y="634483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361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79E0BD-E732-920A-6865-9945C012E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E4AA54B-1053-4327-5BD7-A29032BD5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n-US" sz="5200"/>
              <a:t>Tabelle: buch_kategorie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7CE0D32-C943-711C-2279-1BE03A093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43" y="1829878"/>
            <a:ext cx="5221625" cy="3198244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017737-D9D7-33DB-33DB-539433313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Diese Tabelle verbindet Bücher und Kategorien (M:N Beziehung).</a:t>
            </a:r>
          </a:p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Ein Buch kann mehrere Kategorien haben.</a:t>
            </a:r>
            <a:endParaRPr lang="en-DE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894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ABFB7-B463-9DE4-09FA-216C31F6C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5BEF236-730D-3140-9BE7-DCB1F7173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n-US" sz="5600"/>
              <a:t>Tabelle: nachricht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4F084DC-429C-589A-2270-AFC7D5485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43" y="2580487"/>
            <a:ext cx="5221625" cy="1697026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EC5972-9DBB-A190-4BF2-50A80F689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Diese Tabelle speichert Nachrichten zwischen Benutzern.</a:t>
            </a:r>
          </a:p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Ein Benutzer kann einem anderen Benutzer über ein Buch schreiben.</a:t>
            </a:r>
            <a:endParaRPr lang="en-DE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650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89BE2-31A8-F9C5-55D3-9C8C9A4D4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1A7A7D-DDD6-4FD5-68FF-315C5B7AE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de-DE" sz="4300"/>
              <a:t>Tabellen: standort und buch_standort</a:t>
            </a:r>
            <a:endParaRPr lang="en-US" sz="43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61268A2-5E2E-0712-0293-068A6B60E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43" y="2104014"/>
            <a:ext cx="5221625" cy="2649973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9A3AB8-FB84-1D71-186B-EA4E30DC6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Diese Tabellen speichern den Standort von Büchern.</a:t>
            </a:r>
          </a:p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Ein Buch kann an einem Ort gefunden werden.</a:t>
            </a:r>
            <a:endParaRPr lang="en-DE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899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7AE28A-9839-EB0A-D668-5E0E6C3D2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4AD26C9-98F6-C2EE-F123-60A8170FD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4" y="501651"/>
            <a:ext cx="4434720" cy="1716255"/>
          </a:xfrm>
        </p:spPr>
        <p:txBody>
          <a:bodyPr anchor="b">
            <a:normAutofit/>
          </a:bodyPr>
          <a:lstStyle/>
          <a:p>
            <a:r>
              <a:rPr lang="de-DE" sz="5600"/>
              <a:t>Testfälle (SQL-Abfragen)</a:t>
            </a:r>
            <a:endParaRPr lang="en-US" sz="56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658C941-CDB2-3401-B481-84D21BA89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3" r="17298" b="-1"/>
          <a:stretch>
            <a:fillRect/>
          </a:stretch>
        </p:blipFill>
        <p:spPr>
          <a:xfrm>
            <a:off x="279143" y="299508"/>
            <a:ext cx="5221625" cy="301039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9930604-C175-C371-922E-A867A5DF76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7" r="22973"/>
          <a:stretch>
            <a:fillRect/>
          </a:stretch>
        </p:blipFill>
        <p:spPr>
          <a:xfrm>
            <a:off x="279143" y="3548095"/>
            <a:ext cx="5221625" cy="3010397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5397EE-E9B3-677F-986B-23A256320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de-DE" sz="1900">
                <a:solidFill>
                  <a:schemeClr val="tx1">
                    <a:alpha val="80000"/>
                  </a:schemeClr>
                </a:solidFill>
              </a:rPr>
              <a:t>In dieser Phase wurden mehrere SQL-Abfragen erstellt, um die Datenbank zu testen.</a:t>
            </a:r>
          </a:p>
          <a:p>
            <a:pPr lvl="1"/>
            <a:r>
              <a:rPr lang="de-DE" sz="1900">
                <a:solidFill>
                  <a:schemeClr val="tx1">
                    <a:alpha val="80000"/>
                  </a:schemeClr>
                </a:solidFill>
              </a:rPr>
              <a:t>Beispiele:</a:t>
            </a:r>
          </a:p>
          <a:p>
            <a:pPr lvl="1"/>
            <a:r>
              <a:rPr lang="de-DE" sz="1900">
                <a:solidFill>
                  <a:schemeClr val="tx1">
                    <a:alpha val="80000"/>
                  </a:schemeClr>
                </a:solidFill>
              </a:rPr>
              <a:t> Bücher mit Verfügbarkeit anzeigen</a:t>
            </a:r>
          </a:p>
          <a:p>
            <a:pPr lvl="1"/>
            <a:r>
              <a:rPr lang="de-DE" sz="1900">
                <a:solidFill>
                  <a:schemeClr val="tx1">
                    <a:alpha val="80000"/>
                  </a:schemeClr>
                </a:solidFill>
              </a:rPr>
              <a:t> Ausleihen mit Benutzer und Buch anzeigen</a:t>
            </a:r>
          </a:p>
          <a:p>
            <a:pPr lvl="1"/>
            <a:r>
              <a:rPr lang="de-DE" sz="1900">
                <a:solidFill>
                  <a:schemeClr val="tx1">
                    <a:alpha val="80000"/>
                  </a:schemeClr>
                </a:solidFill>
              </a:rPr>
              <a:t> Bewertungen anzeigen</a:t>
            </a:r>
          </a:p>
          <a:p>
            <a:pPr lvl="1"/>
            <a:r>
              <a:rPr lang="de-DE" sz="1900">
                <a:solidFill>
                  <a:schemeClr val="tx1">
                    <a:alpha val="80000"/>
                  </a:schemeClr>
                </a:solidFill>
              </a:rPr>
              <a:t> Bücher nach Standort suchen</a:t>
            </a:r>
          </a:p>
          <a:p>
            <a:pPr lvl="1"/>
            <a:r>
              <a:rPr lang="de-DE" sz="1900">
                <a:solidFill>
                  <a:schemeClr val="tx1">
                    <a:alpha val="80000"/>
                  </a:schemeClr>
                </a:solidFill>
              </a:rPr>
              <a:t> Nachrichten zwischen Benutzern anzeigen</a:t>
            </a:r>
            <a:endParaRPr lang="en-DE" sz="19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3893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933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B41A6E-9D97-767A-1733-C913B9EAD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18FDFE7-71AA-2B69-A262-B9DD825DA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de-DE" sz="3800" dirty="0">
                <a:solidFill>
                  <a:srgbClr val="FFFFFF"/>
                </a:solidFill>
              </a:rPr>
              <a:t>Zusammenfassung</a:t>
            </a:r>
            <a:endParaRPr lang="en-US" sz="3800" dirty="0">
              <a:solidFill>
                <a:srgbClr val="FFFFFF"/>
              </a:solidFill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7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982275-757A-2CB2-2064-55345DF0D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Die Datenbank wurde erfolgreich implementiert.</a:t>
            </a:r>
          </a:p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Alle Tabellen wurden erstellt und mit Daten gefüllt.</a:t>
            </a:r>
          </a:p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Die Beziehungen zwischen den Tabellen funktionieren korrekt.</a:t>
            </a:r>
          </a:p>
          <a:p>
            <a:r>
              <a:rPr lang="de-DE" sz="2000">
                <a:solidFill>
                  <a:schemeClr val="tx1">
                    <a:alpha val="80000"/>
                  </a:schemeClr>
                </a:solidFill>
              </a:rPr>
              <a:t>Die Testabfragen zeigen, dass das System richtig arbeitet.</a:t>
            </a:r>
            <a:endParaRPr lang="en-DE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013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782AF6-7865-645D-92EE-EFE051865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5BDF351-8D31-7681-46A9-987774FE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de-DE" sz="8000">
                <a:solidFill>
                  <a:srgbClr val="FFFFFF"/>
                </a:solidFill>
              </a:rPr>
              <a:t>Fazit</a:t>
            </a:r>
            <a:endParaRPr lang="en-US" sz="8000">
              <a:solidFill>
                <a:srgbClr val="FFFFFF"/>
              </a:solidFill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88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D2529C-208C-E495-ED8E-28D5B43A6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de-DE" sz="2000" dirty="0">
                <a:solidFill>
                  <a:schemeClr val="tx1">
                    <a:alpha val="80000"/>
                  </a:schemeClr>
                </a:solidFill>
              </a:rPr>
              <a:t>Die Datenbank erfüllt alle Anforderungen der Buchtausch-App.</a:t>
            </a:r>
          </a:p>
          <a:p>
            <a:r>
              <a:rPr lang="de-DE" sz="2000" dirty="0">
                <a:solidFill>
                  <a:schemeClr val="tx1">
                    <a:alpha val="80000"/>
                  </a:schemeClr>
                </a:solidFill>
              </a:rPr>
              <a:t>Die Struktur ist klar und gut organisiert.</a:t>
            </a:r>
          </a:p>
          <a:p>
            <a:r>
              <a:rPr lang="de-DE" sz="2000" dirty="0">
                <a:solidFill>
                  <a:schemeClr val="tx1">
                    <a:alpha val="80000"/>
                  </a:schemeClr>
                </a:solidFill>
              </a:rPr>
              <a:t>Das System kann in Zukunft für eine echte Anwendung verwendet werden.</a:t>
            </a:r>
            <a:endParaRPr lang="en-DE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</Words>
  <Application>Microsoft Office PowerPoint</Application>
  <PresentationFormat>Breitbild</PresentationFormat>
  <Paragraphs>93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</vt:lpstr>
      <vt:lpstr>Erarbeitungs-/Reflexionsphase – Buchtausch-App Datenbank</vt:lpstr>
      <vt:lpstr>Ziel der Implementierung </vt:lpstr>
      <vt:lpstr>Tabellenübersicht</vt:lpstr>
      <vt:lpstr>Tabelle: benutzer</vt:lpstr>
      <vt:lpstr>Tabelle: buch</vt:lpstr>
      <vt:lpstr>Tabelle: verfuegbarkeit</vt:lpstr>
      <vt:lpstr>Tabelle: ausleihe</vt:lpstr>
      <vt:lpstr>Tabelle: bewertung</vt:lpstr>
      <vt:lpstr>Tabelle: kategorie</vt:lpstr>
      <vt:lpstr>Tabelle: buch_kategorie</vt:lpstr>
      <vt:lpstr>Tabelle: nachricht</vt:lpstr>
      <vt:lpstr>Tabellen: standort und buch_standort</vt:lpstr>
      <vt:lpstr>Testfälle (SQL-Abfragen)</vt:lpstr>
      <vt:lpstr>Zusammenfassung</vt:lpstr>
      <vt:lpstr>Fazit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Mohamad Almoussa</dc:creator>
  <cp:lastModifiedBy>Mohamad Almoussa</cp:lastModifiedBy>
  <cp:revision>2</cp:revision>
  <dcterms:created xsi:type="dcterms:W3CDTF">2026-05-05T23:12:24Z</dcterms:created>
  <dcterms:modified xsi:type="dcterms:W3CDTF">2026-05-06T11:38:36Z</dcterms:modified>
</cp:coreProperties>
</file>